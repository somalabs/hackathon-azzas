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E8A61A-A615-AD6B-928D-A384F69C55E9}" v="80" dt="2026-06-25T22:06:14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Yanaguibashi" userId="S::laura.yanaguibashi@somagrupo.com.br::165e6186-a1bf-41ea-ae24-65bcca0a5f09" providerId="AD" clId="Web-{7FE8A61A-A615-AD6B-928D-A384F69C55E9}"/>
    <pc:docChg chg="modSld">
      <pc:chgData name="Laura Yanaguibashi" userId="S::laura.yanaguibashi@somagrupo.com.br::165e6186-a1bf-41ea-ae24-65bcca0a5f09" providerId="AD" clId="Web-{7FE8A61A-A615-AD6B-928D-A384F69C55E9}" dt="2026-06-25T22:06:14.691" v="75"/>
      <pc:docMkLst>
        <pc:docMk/>
      </pc:docMkLst>
      <pc:sldChg chg="modSp">
        <pc:chgData name="Laura Yanaguibashi" userId="S::laura.yanaguibashi@somagrupo.com.br::165e6186-a1bf-41ea-ae24-65bcca0a5f09" providerId="AD" clId="Web-{7FE8A61A-A615-AD6B-928D-A384F69C55E9}" dt="2026-06-25T22:01:01.048" v="5" actId="14100"/>
        <pc:sldMkLst>
          <pc:docMk/>
          <pc:sldMk cId="0" sldId="257"/>
        </pc:sldMkLst>
        <pc:spChg chg="mod">
          <ac:chgData name="Laura Yanaguibashi" userId="S::laura.yanaguibashi@somagrupo.com.br::165e6186-a1bf-41ea-ae24-65bcca0a5f09" providerId="AD" clId="Web-{7FE8A61A-A615-AD6B-928D-A384F69C55E9}" dt="2026-06-25T22:00:50.798" v="0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0:50.814" v="1" actId="1410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0:50.845" v="2" actId="1410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01.048" v="5" actId="14100"/>
          <ac:spMkLst>
            <pc:docMk/>
            <pc:sldMk cId="0" sldId="257"/>
            <ac:spMk id="20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0:56.830" v="4" actId="1076"/>
          <ac:spMkLst>
            <pc:docMk/>
            <pc:sldMk cId="0" sldId="257"/>
            <ac:spMk id="21" creationId="{00000000-0000-0000-0000-000000000000}"/>
          </ac:spMkLst>
        </pc:spChg>
      </pc:sldChg>
      <pc:sldChg chg="modSp">
        <pc:chgData name="Laura Yanaguibashi" userId="S::laura.yanaguibashi@somagrupo.com.br::165e6186-a1bf-41ea-ae24-65bcca0a5f09" providerId="AD" clId="Web-{7FE8A61A-A615-AD6B-928D-A384F69C55E9}" dt="2026-06-25T22:04:52.361" v="63" actId="20577"/>
        <pc:sldMkLst>
          <pc:docMk/>
          <pc:sldMk cId="0" sldId="258"/>
        </pc:sldMkLst>
        <pc:spChg chg="mod">
          <ac:chgData name="Laura Yanaguibashi" userId="S::laura.yanaguibashi@somagrupo.com.br::165e6186-a1bf-41ea-ae24-65bcca0a5f09" providerId="AD" clId="Web-{7FE8A61A-A615-AD6B-928D-A384F69C55E9}" dt="2026-06-25T22:04:52.361" v="63" actId="20577"/>
          <ac:spMkLst>
            <pc:docMk/>
            <pc:sldMk cId="0" sldId="258"/>
            <ac:spMk id="15" creationId="{00000000-0000-0000-0000-000000000000}"/>
          </ac:spMkLst>
        </pc:spChg>
      </pc:sldChg>
      <pc:sldChg chg="modSp">
        <pc:chgData name="Laura Yanaguibashi" userId="S::laura.yanaguibashi@somagrupo.com.br::165e6186-a1bf-41ea-ae24-65bcca0a5f09" providerId="AD" clId="Web-{7FE8A61A-A615-AD6B-928D-A384F69C55E9}" dt="2026-06-25T22:06:14.691" v="75"/>
        <pc:sldMkLst>
          <pc:docMk/>
          <pc:sldMk cId="0" sldId="259"/>
        </pc:sldMkLst>
        <pc:spChg chg="mod">
          <ac:chgData name="Laura Yanaguibashi" userId="S::laura.yanaguibashi@somagrupo.com.br::165e6186-a1bf-41ea-ae24-65bcca0a5f09" providerId="AD" clId="Web-{7FE8A61A-A615-AD6B-928D-A384F69C55E9}" dt="2026-06-25T22:05:54.550" v="72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45.517" v="34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2.314" v="7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2.330" v="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45.548" v="35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2.361" v="1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2.392" v="11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6:14.691" v="75"/>
          <ac:spMkLst>
            <pc:docMk/>
            <pc:sldMk cId="0" sldId="259"/>
            <ac:spMk id="10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7.142" v="24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7.158" v="25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45.580" v="37" actId="14100"/>
          <ac:spMkLst>
            <pc:docMk/>
            <pc:sldMk cId="0" sldId="259"/>
            <ac:spMk id="13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7.189" v="27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27.189" v="28" actId="1076"/>
          <ac:spMkLst>
            <pc:docMk/>
            <pc:sldMk cId="0" sldId="259"/>
            <ac:spMk id="15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1:51.642" v="38" actId="107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5:37.738" v="6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5:59.582" v="73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5:37.754" v="67"/>
          <ac:spMkLst>
            <pc:docMk/>
            <pc:sldMk cId="0" sldId="259"/>
            <ac:spMk id="19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6:02.316" v="74" actId="20577"/>
          <ac:spMkLst>
            <pc:docMk/>
            <pc:sldMk cId="0" sldId="259"/>
            <ac:spMk id="20" creationId="{00000000-0000-0000-0000-000000000000}"/>
          </ac:spMkLst>
        </pc:spChg>
      </pc:sldChg>
      <pc:sldChg chg="modSp">
        <pc:chgData name="Laura Yanaguibashi" userId="S::laura.yanaguibashi@somagrupo.com.br::165e6186-a1bf-41ea-ae24-65bcca0a5f09" providerId="AD" clId="Web-{7FE8A61A-A615-AD6B-928D-A384F69C55E9}" dt="2026-06-25T22:03:58.579" v="59" actId="20577"/>
        <pc:sldMkLst>
          <pc:docMk/>
          <pc:sldMk cId="0" sldId="260"/>
        </pc:sldMkLst>
        <pc:spChg chg="mod">
          <ac:chgData name="Laura Yanaguibashi" userId="S::laura.yanaguibashi@somagrupo.com.br::165e6186-a1bf-41ea-ae24-65bcca0a5f09" providerId="AD" clId="Web-{7FE8A61A-A615-AD6B-928D-A384F69C55E9}" dt="2026-06-25T22:03:18.611" v="45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Laura Yanaguibashi" userId="S::laura.yanaguibashi@somagrupo.com.br::165e6186-a1bf-41ea-ae24-65bcca0a5f09" providerId="AD" clId="Web-{7FE8A61A-A615-AD6B-928D-A384F69C55E9}" dt="2026-06-25T22:03:58.579" v="59" actId="20577"/>
          <ac:spMkLst>
            <pc:docMk/>
            <pc:sldMk cId="0" sldId="260"/>
            <ac:spMk id="1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9154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20040"/>
            <a:ext cx="914400" cy="91440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75488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1732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AZZAS 2154  ·  PILAR RECEITA &amp; CLIENTES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783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Hackathon: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de Clientes Animale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3291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do Participante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Inove </a:t>
            </a: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47091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referência  ·  Hackathon Azzas 2154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DESAFIO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agrupar clientes da Animale de formas novas?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novas formas de segmentar a base de clientes da Animale. Agrupe os clientes da melhor forma para encontrar insights e oportunidades de negócio.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06040" cy="2154283"/>
          </a:xfrm>
          <a:prstGeom prst="roundRect">
            <a:avLst>
              <a:gd name="adj" fmla="val 3509"/>
            </a:avLst>
          </a:prstGeom>
          <a:solidFill>
            <a:srgbClr val="E7F6FD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2176272"/>
            <a:ext cx="658368" cy="658368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942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2128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8368" y="290779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padrões de compra, frequência e valor na base da Animale.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2011680"/>
            <a:ext cx="2606040" cy="2154283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38728" y="2176272"/>
            <a:ext cx="658368" cy="658368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1500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24942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25112" y="22128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38728" y="290779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Proponha dimensões além de RFM: estilo, canal, ciclo de vida da moda.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17920" y="2011680"/>
            <a:ext cx="2606040" cy="2154283"/>
          </a:xfrm>
          <a:prstGeom prst="roundRect">
            <a:avLst>
              <a:gd name="adj" fmla="val 3509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19088" y="2176272"/>
            <a:ext cx="658368" cy="658368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249424"/>
            <a:ext cx="512064" cy="51206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05472" y="22128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19088" y="290779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Conecte o segmento a uma alavanca de negócio real e mensurável.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484414" y="4383894"/>
            <a:ext cx="8349343" cy="413441"/>
          </a:xfrm>
          <a:prstGeom prst="roundRect">
            <a:avLst>
              <a:gd name="adj" fmla="val 2127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58368" y="4391297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</a:t>
            </a: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modelos atuais de segmentação são RFM, Matriz McKinsey e o modelo emergente Nobres &amp; Liquideiros. O desafio é ir além.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ATUAIS  ·  1 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RFM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clientes por três dimensões comportamentais de compra: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E7F6FD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Recência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88950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dias desde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última compra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3756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337560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88950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de transações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realizadas na marca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6217920" y="2578608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Monetário</a:t>
            </a:r>
            <a:endParaRPr lang="en-US" sz="1300" dirty="0" err="1"/>
          </a:p>
        </p:txBody>
      </p:sp>
      <p:sp>
        <p:nvSpPr>
          <p:cNvPr id="16" name="Text 14"/>
          <p:cNvSpPr/>
          <p:nvPr/>
        </p:nvSpPr>
        <p:spPr>
          <a:xfrm>
            <a:off x="6355080" y="2889504"/>
            <a:ext cx="2331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acumulado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 pelo cliente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Segmentos resultantes: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1330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330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41330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06040" y="41330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41330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41330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Loyalist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41330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1330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Attention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902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90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606040" y="45902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4590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Lose Them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5902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4590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03720" y="4590288"/>
            <a:ext cx="2011680" cy="338328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59028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Customers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ATUAIS  ·  2 DE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Matriz McKinsey: Valor × </a:t>
            </a:r>
            <a:r>
              <a:rPr lang="en-US" sz="2800" b="1" dirty="0" err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Frequência</a:t>
            </a:r>
            <a:endParaRPr lang="en-US" sz="2800" err="1">
              <a:latin typeface="Calibri"/>
              <a:ea typeface="Calibri"/>
              <a:cs typeface="Calibri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286691"/>
            <a:ext cx="4133088" cy="1340032"/>
          </a:xfrm>
          <a:prstGeom prst="roundRect">
            <a:avLst>
              <a:gd name="adj" fmla="val 6061"/>
            </a:avLst>
          </a:prstGeom>
          <a:solidFill>
            <a:srgbClr val="E7F6FD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414707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1999923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a marca, mas pode não ter poder aquisitivo para peças maiores.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73168" y="1286691"/>
            <a:ext cx="4133088" cy="1340032"/>
          </a:xfrm>
          <a:prstGeom prst="roundRect">
            <a:avLst>
              <a:gd name="adj" fmla="val 6061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74336" y="1414707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freq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74336" y="1999923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fiéis de alto valor. Balizas do que funciona para a marca.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87040"/>
            <a:ext cx="4133088" cy="1340032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1150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freq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Valor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8368" y="37002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envolvimento. Experimentadoras ou desengajadas.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73168" y="2987040"/>
            <a:ext cx="4133088" cy="1340032"/>
          </a:xfrm>
          <a:prstGeom prst="roundRect">
            <a:avLst>
              <a:gd name="adj" fmla="val 6061"/>
            </a:avLst>
          </a:prstGeom>
          <a:solidFill>
            <a:srgbClr val="E6F7F1"/>
          </a:solidFill>
          <a:ln w="12700">
            <a:solidFill>
              <a:srgbClr val="10B98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74336" y="311505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freq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Valor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74336" y="3700272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pontuais de alto valor. Analisar categorias e sazonalidade.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47800" y="2698351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- Valor    + Valor →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4587240"/>
            <a:ext cx="4133088" cy="429768"/>
          </a:xfrm>
          <a:prstGeom prst="roundRect">
            <a:avLst>
              <a:gd name="adj" fmla="val 2127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58368" y="4605528"/>
            <a:ext cx="37490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COMPRA ÚNICA  </a:t>
            </a:r>
            <a:r>
              <a:rPr lang="en-US" sz="1050" b="1" dirty="0">
                <a:latin typeface="Calibri"/>
                <a:ea typeface="Calibri"/>
                <a:cs typeface="Calibri"/>
              </a:rPr>
              <a:t>· </a:t>
            </a:r>
            <a:r>
              <a:rPr lang="en-US" sz="1050" b="1" dirty="0">
                <a:solidFill>
                  <a:srgbClr val="0EA5E9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uma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só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compra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—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chave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para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entender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sazonalidade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73168" y="4587240"/>
            <a:ext cx="4133088" cy="429768"/>
          </a:xfrm>
          <a:prstGeom prst="roundRect">
            <a:avLst>
              <a:gd name="adj" fmla="val 21277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74336" y="4605528"/>
            <a:ext cx="37490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TOP CLIENTES  · </a:t>
            </a:r>
            <a:r>
              <a:rPr lang="en-US" sz="1050" b="1" dirty="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Maiores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consumidoras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hoje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 DNA da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marca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referência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perfil</a:t>
            </a:r>
            <a:r>
              <a:rPr lang="en-US" sz="105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05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EMERGENTE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Nobres &amp; Liquideiros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Segmentação por comportamento de preço — o quanto o cliente compra a preço cheio vs. com desconto.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133088" cy="2743200"/>
          </a:xfrm>
          <a:prstGeom prst="roundRect">
            <a:avLst>
              <a:gd name="adj" fmla="val 3333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993392"/>
            <a:ext cx="658368" cy="658368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>
                <a:alpha val="20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66544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44752" y="202996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NOBRE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" y="2724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a preço cheio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58368" y="3063240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Cliente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que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compra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maior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parte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das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peças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a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preço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cheio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(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desconto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≤ 20% 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3529584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Sinalizadoras de valor de marca.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Dispostas a pagar o preço justo.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73168" y="1828800"/>
            <a:ext cx="4133088" cy="2743200"/>
          </a:xfrm>
          <a:prstGeom prst="roundRect">
            <a:avLst>
              <a:gd name="adj" fmla="val 3333"/>
            </a:avLst>
          </a:prstGeom>
          <a:solidFill>
            <a:srgbClr val="E7F6FD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974336" y="1993392"/>
            <a:ext cx="658368" cy="658368"/>
          </a:xfrm>
          <a:prstGeom prst="ellipse">
            <a:avLst/>
          </a:prstGeom>
          <a:solidFill>
            <a:srgbClr val="0EA5E9">
              <a:alpha val="20000"/>
            </a:srgbClr>
          </a:solidFill>
          <a:ln w="12700">
            <a:solidFill>
              <a:srgbClr val="0EA5E9">
                <a:alpha val="20000"/>
              </a:srgbClr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2066544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60720" y="2029968"/>
            <a:ext cx="29260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LIQUIDEIRO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974336" y="27249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majoritariamente com desconto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974336" y="3063240"/>
            <a:ext cx="3749040" cy="384048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974336" y="3063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que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compra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majoritariamente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 com 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desconto</a:t>
            </a:r>
            <a:endParaRPr lang="en-US" sz="1100" dirty="0">
              <a:solidFill>
                <a:srgbClr val="FFFFFF"/>
              </a:solidFill>
              <a:ea typeface="+mn-lt"/>
              <a:cs typeface="+mn-lt"/>
            </a:endParaRPr>
          </a:p>
          <a:p>
            <a:pPr algn="ctr"/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(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desconto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&gt; 20%)</a:t>
            </a:r>
          </a:p>
        </p:txBody>
      </p:sp>
      <p:sp>
        <p:nvSpPr>
          <p:cNvPr id="20" name="Text 16"/>
          <p:cNvSpPr/>
          <p:nvPr/>
        </p:nvSpPr>
        <p:spPr>
          <a:xfrm>
            <a:off x="4974336" y="3529584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Sensíveis a preço.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Ativadas por campanhas e liquidações.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Modelo recente, ainda sendo validado — ideal para testar hipóteses cruzadas com outros critérios de segmentação.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PROVOCAÇÃO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RFM e a Matriz McKinsey não enxergam?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Estes são ângulos que os modelos atuais não capturam — e que podem revelar oportunidades reais de negócio.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4133088" cy="1344168"/>
          </a:xfrm>
          <a:prstGeom prst="roundRect">
            <a:avLst>
              <a:gd name="adj" fmla="val 68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48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preferencial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3957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App, site desktop, loja física — o comportamento muda por canal?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de app têm perfil de compra diferente?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1938528"/>
            <a:ext cx="4133088" cy="1344168"/>
          </a:xfrm>
          <a:prstGeom prst="roundRect">
            <a:avLst>
              <a:gd name="adj" fmla="val 68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74336" y="204825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da moda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74336" y="23957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cliente compra no lançamento ou no fim da curva?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 básicos ou peças de destaque de coleção?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429000"/>
            <a:ext cx="4133088" cy="1344168"/>
          </a:xfrm>
          <a:prstGeom prst="roundRect">
            <a:avLst>
              <a:gd name="adj" fmla="val 68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538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&amp; categorias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" y="3886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'cliente de vestido' vs 'cliente de calça'?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de categoria se mantêm consistentes ao longo do tempo?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3429000"/>
            <a:ext cx="4133088" cy="1344168"/>
          </a:xfrm>
          <a:prstGeom prst="roundRect">
            <a:avLst>
              <a:gd name="adj" fmla="val 68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74336" y="353872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churn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74336" y="38862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segmentos têm maior propensão ao abandono?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têm maior potencial de upgrade ou reativação?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papel no hackathon é propor e testar um desses ângulos — ou outro que você enxergar nos dados.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DISPONÍVEIS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dados reais via Claude + MCP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89888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E7F6FD"/>
          </a:solidFill>
          <a:ln w="12700">
            <a:solidFill>
              <a:srgbClr val="0EA5E9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426464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MCP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Claude diretamente ao </a:t>
            </a:r>
            <a:r>
              <a:rPr lang="en-US" sz="12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Azzas. Você acessa dados reais de clientes da Animale fazendo perguntas em linguagem natural — sem precisar escrever SQL.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22860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2706624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7066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670048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Claude (claude.ai) e certifique-se que o MCP IAZZAS está ativo no menu de ferramentas.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273552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32735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3236976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Faça perguntas sobre clientes da Animale em português. O Claude traduz para SQL e retorna os dados.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3803904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análises, tabelas, gráficos ou comparações — o Claude processa e apresenta os resultados.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4407408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407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4370832"/>
            <a:ext cx="7589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Itere: refine a pergunta, filtre por período, segmento ou canal até chegar ao insight.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914400"/>
            <a:ext cx="3200400" cy="320040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2560320"/>
            <a:ext cx="2011680" cy="2011680"/>
          </a:xfrm>
          <a:prstGeom prst="ellipse">
            <a:avLst/>
          </a:prstGeom>
          <a:solidFill>
            <a:srgbClr val="13283F"/>
          </a:solidFill>
          <a:ln w="12700">
            <a:solidFill>
              <a:srgbClr val="1328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74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proposta de segmentação</a:t>
            </a:r>
            <a:endParaRPr lang="en-US" sz="2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475488"/>
            <a:ext cx="822960" cy="822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572768"/>
            <a:ext cx="4133088" cy="1389888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6642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298448" y="170078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Segmentação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167128"/>
            <a:ext cx="37856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Defina a lógica de agrupamento: quais variáveis você usa, quantos segmentos e como cada um é caracterizado.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73168" y="1572768"/>
            <a:ext cx="4133088" cy="1389888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56048" y="166420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614416" y="170078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Tamanho da Base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956048" y="2167128"/>
            <a:ext cx="37856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Quantas clientes cabem em cada segmento? Qual o peso financeiro (receita) de cada grupo?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7200" y="3127248"/>
            <a:ext cx="4133088" cy="1389888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3218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298448" y="325526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Insight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0080" y="3721608"/>
            <a:ext cx="37856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esse novo olhar revela que RFM ou a Matriz não enxergavam? Qual é a descoberta mais relevante?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73168" y="3127248"/>
            <a:ext cx="4133088" cy="1389888"/>
          </a:xfrm>
          <a:prstGeom prst="roundRect">
            <a:avLst>
              <a:gd name="adj" fmla="val 6579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56048" y="321868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614416" y="3255264"/>
            <a:ext cx="3090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Alavanca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956048" y="3721608"/>
            <a:ext cx="378561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9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ação de negócio esse segmento habilita? Campanha, produto, canal, oferta — seja específico.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0292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livre — slides, nota, planilha ou apresentação oral. O que importa é a clareza do raciocínio.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793</Words>
  <Application>Microsoft Office PowerPoint</Application>
  <PresentationFormat>Apresentação na tela (16:9)</PresentationFormat>
  <Paragraphs>122</Paragraphs>
  <Slides>8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9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Hackathon Segmentação Animale — Playbook</dc:title>
  <dc:subject>PptxGenJS Presentation</dc:subject>
  <dc:creator>PptxGenJS</dc:creator>
  <cp:lastModifiedBy>Laura Yanaguibashi</cp:lastModifiedBy>
  <cp:revision>25</cp:revision>
  <dcterms:created xsi:type="dcterms:W3CDTF">2026-06-25T21:49:57Z</dcterms:created>
  <dcterms:modified xsi:type="dcterms:W3CDTF">2026-06-25T22:06:15Z</dcterms:modified>
</cp:coreProperties>
</file>