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0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82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097280"/>
            <a:ext cx="5029200" cy="5029200"/>
          </a:xfrm>
          <a:prstGeom prst="ellipse">
            <a:avLst/>
          </a:prstGeom>
          <a:solidFill>
            <a:srgbClr val="C8A96E">
              <a:alpha val="10000"/>
            </a:srgbClr>
          </a:solidFill>
          <a:ln w="12700">
            <a:solidFill>
              <a:srgbClr val="C8A96E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4864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3A3020"/>
          </a:solidFill>
          <a:ln w="7620">
            <a:solidFill>
              <a:srgbClr val="C8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48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· IA FASHION LAB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Inicial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Coleção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4114800" cy="0"/>
          </a:xfrm>
          <a:prstGeom prst="line">
            <a:avLst/>
          </a:prstGeom>
          <a:noFill/>
          <a:ln w="12700">
            <a:solidFill>
              <a:srgbClr val="C8A96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1518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Fábula · Inverno 2026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do Participante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Tribo Plan &amp; DS · Azzas 2154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1A1D24"/>
          </a:solidFill>
          <a:ln w="7620">
            <a:solidFill>
              <a:srgbClr val="C8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</a:t>
            </a:r>
            <a:r>
              <a:rPr lang="en-US" sz="15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5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/Plataforma que automatize e otimize a distribuição inicial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coleção Inverno 2026 da Fábula entre as 10 filiais físicas.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9077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721608"/>
            <a:ext cx="2423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85616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ressuprimento automático precisa de 14 dias de dados pra calibrar. Nesse período, a loja depende só do que recebeu na distribuição inicial — sem reposição.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8346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29077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3401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equilíbrio crítico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3721608"/>
            <a:ext cx="2423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785616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pouco → ruptura antes do ressuprimento assumir. Distribuir demais → CD esvaziado, sem estoque regulador para abastecer as lojas depois.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29077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3401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721608"/>
            <a:ext cx="2423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785616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filiais físicas da Fábula. 298 produto-cor. 57.112 peças compradas. Ecommerce está fora — volume segregado, ignore completamente.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2DD4BF">
              <a:alpha val="8000"/>
            </a:srgbClr>
          </a:solidFill>
          <a:ln w="12700">
            <a:solidFill>
              <a:srgbClr val="2DD4B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fornecidos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138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compra_INV26_lancamento_fabula.xlsx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556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volume total disponível para distribuição.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0208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Colunas: PRODUTO · COR_PRODUTO · DESCRICAO · COMPRA · TAM_1…TAM_6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0" y="1490472"/>
            <a:ext cx="3337560" cy="896112"/>
          </a:xfrm>
          <a:prstGeom prst="roundRect">
            <a:avLst>
              <a:gd name="adj" fmla="val 6122"/>
            </a:avLst>
          </a:prstGeom>
          <a:solidFill>
            <a:srgbClr val="0F2A2A"/>
          </a:solidFill>
          <a:ln w="762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527048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298 produto-cor · 57.112 peças · tamanhos por posição de grade (não PP/P/M/G)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670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sortimento_INV26_lancamento_fabula.xlsx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944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quais produto-cor podem ir para cada filial.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32095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Colunas: FILIAL · PRODUTO · COR_PRODUTO · SORTIMENTO (SIM/NÃO)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0" y="2679192"/>
            <a:ext cx="3337560" cy="896112"/>
          </a:xfrm>
          <a:prstGeom prst="roundRect">
            <a:avLst>
              <a:gd name="adj" fmla="val 6122"/>
            </a:avLst>
          </a:prstGeom>
          <a:solidFill>
            <a:srgbClr val="0F2A2A"/>
          </a:solidFill>
          <a:ln w="762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2715768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SIM = pode enviar (não obriga). NÃO = proibido enviar. 49 de 2.980 combinações são NÃO.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🚚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858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leadtimes_INV26_lancamento_fabula.xlsx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1330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trânsito em dias do CD até cada filial.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43982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Colunas: FILIAL · LEADTIME (dias)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0" y="3867912"/>
            <a:ext cx="3337560" cy="896112"/>
          </a:xfrm>
          <a:prstGeom prst="roundRect">
            <a:avLst>
              <a:gd name="adj" fmla="val 6122"/>
            </a:avLst>
          </a:prstGeom>
          <a:solidFill>
            <a:srgbClr val="0F2A2A"/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904488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Leadtime define horizonte de cobertura: 14 + leadtime. Salvador = 30 dias, Leblon = 18 dias.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709160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2A1515"/>
          </a:solidFill>
          <a:ln w="762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Data-base: 31/03/2026. Qualquer dado posterior NÃO deve ser usado — introduziria vazamento de informação.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87171">
              <a:alpha val="7000"/>
            </a:srgbClr>
          </a:solidFill>
          <a:ln w="12700">
            <a:solidFill>
              <a:srgbClr val="F87171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obrigatórias (hard constraints)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138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60520" cy="1143000"/>
          </a:xfrm>
          <a:prstGeom prst="roundRect">
            <a:avLst>
              <a:gd name="adj" fmla="val 4800"/>
            </a:avLst>
          </a:prstGeom>
          <a:solidFill>
            <a:srgbClr val="1A1D24"/>
          </a:solidFill>
          <a:ln w="762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618488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2A1515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184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Sortimento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19476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SORTIMENTO = NÃO → zero unidades para aquela combinação filial-produto-cor, em qualquer tamanho. SIM não obriga — apenas </a:t>
            </a:r>
            <a:r>
              <a:rPr lang="en-US" sz="10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lang="en-US" sz="10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0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queira</a:t>
            </a: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nova </a:t>
            </a:r>
            <a:r>
              <a:rPr lang="en-US" sz="10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</a:t>
            </a: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clusterização</a:t>
            </a: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160520" cy="1143000"/>
          </a:xfrm>
          <a:prstGeom prst="roundRect">
            <a:avLst>
              <a:gd name="adj" fmla="val 4800"/>
            </a:avLst>
          </a:prstGeom>
          <a:solidFill>
            <a:srgbClr val="1A1D24"/>
          </a:solidFill>
          <a:ln w="7620">
            <a:solidFill>
              <a:srgbClr val="F871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1618488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2A1515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6184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76088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comprado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18888" y="19476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das unidades distribuídas por produto-cor-tamanho ≤ quantidade em TAM_N. Quantidades são inteiros não-negativos — sem frações.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160520" cy="1143000"/>
          </a:xfrm>
          <a:prstGeom prst="roundRect">
            <a:avLst>
              <a:gd name="adj" fmla="val 4800"/>
            </a:avLst>
          </a:prstGeom>
          <a:solidFill>
            <a:srgbClr val="1A1D24"/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898648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2A2010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8986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2688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por SKU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" y="32278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algoritmo decidir enviar um produto-cor-tamanho para uma filial, a quantidade mínima é 1 unidade. Zero não aparece no output — omite a linha.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788920"/>
            <a:ext cx="4160520" cy="1143000"/>
          </a:xfrm>
          <a:prstGeom prst="roundRect">
            <a:avLst>
              <a:gd name="adj" fmla="val 4800"/>
            </a:avLst>
          </a:prstGeom>
          <a:solidFill>
            <a:srgbClr val="1A1D24"/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8888" y="2898648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2A2010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8986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76088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 de grade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18888" y="32278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estoque restante cobre só uma fração pequena dos tamanhos de um produto-cor para uma filial, é melhor não enviar nada. O time define o limiar — mas precisa documentar.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1A1D24"/>
          </a:solidFill>
          <a:ln w="7620">
            <a:solidFill>
              <a:srgbClr val="F8717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4224528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2A1515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2245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32688" y="42062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de ecommerce: </a:t>
            </a: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FABULA ECOMMERCE CM e FABULA ECOMMERCE SP CM: ignorar completamente. Volume já segregado. Nenhuma linha do output pode referir esses canais.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4114800" cy="4114800"/>
          </a:xfrm>
          <a:prstGeom prst="ellipse">
            <a:avLst/>
          </a:prstGeom>
          <a:solidFill>
            <a:srgbClr val="60A5FA">
              <a:alpha val="9000"/>
            </a:srgbClr>
          </a:solidFill>
          <a:ln w="12700">
            <a:solidFill>
              <a:srgbClr val="60A5FA">
                <a:alpha val="9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em aberto — o time decide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138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resposta certa pré-definida. O time escolhe e justifica com dados.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60520" cy="1444752"/>
          </a:xfrm>
          <a:prstGeom prst="roundRect">
            <a:avLst>
              <a:gd name="adj" fmla="val 5063"/>
            </a:avLst>
          </a:prstGeom>
          <a:solidFill>
            <a:srgbClr val="1A1D24"/>
          </a:solidFill>
          <a:ln w="762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938528"/>
            <a:ext cx="365760" cy="292608"/>
          </a:xfrm>
          <a:prstGeom prst="roundRect">
            <a:avLst>
              <a:gd name="adj" fmla="val 12500"/>
            </a:avLst>
          </a:prstGeom>
          <a:solidFill>
            <a:srgbClr val="111318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38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9385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demanda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304288"/>
            <a:ext cx="393192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7744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Que histórico usar como proxy? (similares, categoria, sazonalidade)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 qual granularidade estimar? (produto, categoria, filial, cluster)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Como lidar com produtos sem análogo histórico?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828800"/>
            <a:ext cx="4160520" cy="1444752"/>
          </a:xfrm>
          <a:prstGeom prst="roundRect">
            <a:avLst>
              <a:gd name="adj" fmla="val 5063"/>
            </a:avLst>
          </a:prstGeom>
          <a:solidFill>
            <a:srgbClr val="1A1D24"/>
          </a:solidFill>
          <a:ln w="762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18888" y="1938528"/>
            <a:ext cx="365760" cy="292608"/>
          </a:xfrm>
          <a:prstGeom prst="roundRect">
            <a:avLst>
              <a:gd name="adj" fmla="val 12500"/>
            </a:avLst>
          </a:prstGeom>
          <a:solidFill>
            <a:srgbClr val="111318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938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0" y="19385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de filiais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18888" y="2304288"/>
            <a:ext cx="393192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7744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Volume histórico de vendas ou faturamento?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65176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Perfil de produto por filial?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Critério geográfico ou por concentração de clientes?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4160520" cy="1444752"/>
          </a:xfrm>
          <a:prstGeom prst="roundRect">
            <a:avLst>
              <a:gd name="adj" fmla="val 5063"/>
            </a:avLst>
          </a:prstGeom>
          <a:solidFill>
            <a:srgbClr val="1A1D24"/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3511296"/>
            <a:ext cx="365760" cy="292608"/>
          </a:xfrm>
          <a:prstGeom prst="roundRect">
            <a:avLst>
              <a:gd name="adj" fmla="val 12500"/>
            </a:avLst>
          </a:prstGeom>
          <a:solidFill>
            <a:srgbClr val="111318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511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35112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dentro da grade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" y="3877056"/>
            <a:ext cx="393192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5020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Quando falta estoque de um tamanho, qual filial leva?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22452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Baseada na prioridade geral da filial?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49884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Baseada em histórico por tamanho por filial?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401568"/>
            <a:ext cx="4160520" cy="1444752"/>
          </a:xfrm>
          <a:prstGeom prst="roundRect">
            <a:avLst>
              <a:gd name="adj" fmla="val 5063"/>
            </a:avLst>
          </a:prstGeom>
          <a:solidFill>
            <a:srgbClr val="1A1D24"/>
          </a:solidFill>
          <a:ln w="7620">
            <a:solidFill>
              <a:srgbClr val="60A5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18888" y="3511296"/>
            <a:ext cx="365760" cy="292608"/>
          </a:xfrm>
          <a:prstGeom prst="roundRect">
            <a:avLst>
              <a:gd name="adj" fmla="val 12500"/>
            </a:avLst>
          </a:prstGeom>
          <a:solidFill>
            <a:srgbClr val="111318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511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35112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 de completude de grade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18888" y="3877056"/>
            <a:ext cx="393192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95020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% mínimo de tamanhos cobertos para enviar?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422452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Número mínimo de tamanhos?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0" y="449884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Defina, documente e justifique o critério.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esperado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distribuição — estrutura obrigatória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975104" cy="347472"/>
          </a:xfrm>
          <a:prstGeom prst="roundRect">
            <a:avLst>
              <a:gd name="adj" fmla="val 10526"/>
            </a:avLst>
          </a:prstGeom>
          <a:solidFill>
            <a:srgbClr val="3A3020"/>
          </a:solidFill>
          <a:ln w="7620">
            <a:solidFill>
              <a:srgbClr val="C8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783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783080"/>
            <a:ext cx="969264" cy="347472"/>
          </a:xfrm>
          <a:prstGeom prst="roundRect">
            <a:avLst>
              <a:gd name="adj" fmla="val 10526"/>
            </a:avLst>
          </a:prstGeom>
          <a:solidFill>
            <a:srgbClr val="3A3020"/>
          </a:solidFill>
          <a:ln w="7620">
            <a:solidFill>
              <a:srgbClr val="C8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1783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1152144" cy="347472"/>
          </a:xfrm>
          <a:prstGeom prst="roundRect">
            <a:avLst>
              <a:gd name="adj" fmla="val 10526"/>
            </a:avLst>
          </a:prstGeom>
          <a:solidFill>
            <a:srgbClr val="3A3020"/>
          </a:solidFill>
          <a:ln w="7620">
            <a:solidFill>
              <a:srgbClr val="C8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4261104" cy="347472"/>
          </a:xfrm>
          <a:prstGeom prst="roundRect">
            <a:avLst>
              <a:gd name="adj" fmla="val 10526"/>
            </a:avLst>
          </a:prstGeom>
          <a:solidFill>
            <a:srgbClr val="3A3020"/>
          </a:solidFill>
          <a:ln w="762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783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76272"/>
            <a:ext cx="197510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7627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2176272"/>
            <a:ext cx="96926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2176272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176272"/>
            <a:ext cx="115214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176272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FABULA RDB CM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176272"/>
            <a:ext cx="426110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2176272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filial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1975104" cy="347472"/>
          </a:xfrm>
          <a:prstGeom prst="roundRect">
            <a:avLst>
              <a:gd name="adj" fmla="val 789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5603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560320"/>
            <a:ext cx="969264" cy="347472"/>
          </a:xfrm>
          <a:prstGeom prst="roundRect">
            <a:avLst>
              <a:gd name="adj" fmla="val 789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256032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2560320"/>
            <a:ext cx="1152144" cy="347472"/>
          </a:xfrm>
          <a:prstGeom prst="roundRect">
            <a:avLst>
              <a:gd name="adj" fmla="val 789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2560320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5.20637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560320"/>
            <a:ext cx="4261104" cy="347472"/>
          </a:xfrm>
          <a:prstGeom prst="roundRect">
            <a:avLst>
              <a:gd name="adj" fmla="val 789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560320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 produto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944368"/>
            <a:ext cx="197510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94436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COR_PRODUTO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2944368"/>
            <a:ext cx="96926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294436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2944368"/>
            <a:ext cx="115214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294436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55223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2944368"/>
            <a:ext cx="426110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294436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da cor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328416"/>
            <a:ext cx="1975104" cy="347472"/>
          </a:xfrm>
          <a:prstGeom prst="roundRect">
            <a:avLst>
              <a:gd name="adj" fmla="val 789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32841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377440" y="3328416"/>
            <a:ext cx="969264" cy="347472"/>
          </a:xfrm>
          <a:prstGeom prst="roundRect">
            <a:avLst>
              <a:gd name="adj" fmla="val 789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50592" y="3328416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83280" y="3328416"/>
            <a:ext cx="1152144" cy="347472"/>
          </a:xfrm>
          <a:prstGeom prst="roundRect">
            <a:avLst>
              <a:gd name="adj" fmla="val 789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56432" y="332841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0" y="3328416"/>
            <a:ext cx="4261104" cy="347472"/>
          </a:xfrm>
          <a:prstGeom prst="roundRect">
            <a:avLst>
              <a:gd name="adj" fmla="val 789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45152" y="332841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na grade (1–6)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712464"/>
            <a:ext cx="197510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371246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QTD_DISTRIBUIR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77440" y="3712464"/>
            <a:ext cx="96926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50592" y="3712464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≥ 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83280" y="3712464"/>
            <a:ext cx="115214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56432" y="3712464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0" y="3712464"/>
            <a:ext cx="4261104" cy="347472"/>
          </a:xfrm>
          <a:prstGeom prst="roundRect">
            <a:avLst>
              <a:gd name="adj" fmla="val 7895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371246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não aparece — omite linha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" y="4178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obrigatórias antes de entregar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02920" y="4526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violação de sortimento (nenhum SORTIMENTO = NÃO no output)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02920" y="4727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produto-cor-tamanho: soma QTD_DISTRIBUIR ≤ TAM_N comprado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0292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ecommerce · Todos os valores inteiros ≥ 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0"/>
            <a:ext cx="4114800" cy="4114800"/>
          </a:xfrm>
          <a:prstGeom prst="ellipse">
            <a:avLst/>
          </a:prstGeom>
          <a:solidFill>
            <a:srgbClr val="34D399">
              <a:alpha val="8000"/>
            </a:srgbClr>
          </a:solidFill>
          <a:ln w="12700">
            <a:solidFill>
              <a:srgbClr val="34D399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 e critérios de avaliação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138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5623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Site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inputs e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output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1305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ou arquivo compactado. Deve rodar sem intervenção manual.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6060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2880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distribuição com todas as colunas obrigatórias.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3558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decisões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3630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7 respondida: metodologia de demanda, priorização, limiar de grade — com justificativa baseada em dados.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5079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096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1056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cobertura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43799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filial: % produto-cor que atinge (14+lt) dias. Cobertura mediana. % SKUs em risco de ruptura.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3716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avaliação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801368"/>
            <a:ext cx="4069080" cy="475488"/>
          </a:xfrm>
          <a:prstGeom prst="roundRect">
            <a:avLst>
              <a:gd name="adj" fmla="val 961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18379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demanda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73752" y="2057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filial-produto que atinge (14+lt) dias sem ruptura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98080" y="192024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111318"/>
          </a:solidFill>
          <a:ln w="762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920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350008"/>
            <a:ext cx="4069080" cy="475488"/>
          </a:xfrm>
          <a:prstGeom prst="roundRect">
            <a:avLst>
              <a:gd name="adj" fmla="val 961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3865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do estoque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3752" y="2606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distribuído vs. retido no regulador sem necessidade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246888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111318"/>
          </a:solidFill>
          <a:ln w="7620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468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898648"/>
            <a:ext cx="4069080" cy="475488"/>
          </a:xfrm>
          <a:prstGeom prst="roundRect">
            <a:avLst>
              <a:gd name="adj" fmla="val 961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935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duras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73752" y="3154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violações de sortimento, estoque ou integridade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98080" y="301752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111318"/>
          </a:solidFill>
          <a:ln w="7620">
            <a:solidFill>
              <a:srgbClr val="F871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30175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447288"/>
            <a:ext cx="4069080" cy="475488"/>
          </a:xfrm>
          <a:prstGeom prst="roundRect">
            <a:avLst>
              <a:gd name="adj" fmla="val 961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3483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grade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73752" y="3703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Coerência do limiar de completude e impacto na cobertura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98080" y="356616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111318"/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35661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995928"/>
            <a:ext cx="4069080" cy="475488"/>
          </a:xfrm>
          <a:prstGeom prst="roundRect">
            <a:avLst>
              <a:gd name="adj" fmla="val 961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40325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das decisões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73752" y="4251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baseada em dados para as escolhas da seção 7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98080" y="411480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111318"/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41148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544568"/>
            <a:ext cx="4069080" cy="598932"/>
          </a:xfrm>
          <a:prstGeom prst="roundRect">
            <a:avLst>
              <a:gd name="adj" fmla="val 9615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4545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73752" y="4800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roda sem intervenção e gera </a:t>
            </a:r>
            <a:r>
              <a:rPr lang="en-US" sz="9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</a:t>
            </a: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usar dados de </a:t>
            </a:r>
            <a:r>
              <a:rPr lang="en-US" sz="9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</a:t>
            </a: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INV26 no </a:t>
            </a:r>
            <a:r>
              <a:rPr lang="en-US" sz="9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98080" y="466344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111318"/>
          </a:solidFill>
          <a:ln w="7620">
            <a:solidFill>
              <a:srgbClr val="2DD4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0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2DD4BF">
              <a:alpha val="9000"/>
            </a:srgbClr>
          </a:solidFill>
          <a:ln w="12700">
            <a:solidFill>
              <a:srgbClr val="2DD4BF">
                <a:alpha val="9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aos dados — banco de dados Azzas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138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A1D24"/>
          </a:solidFill>
          <a:ln w="762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dos três arquivos fornecidos, o time tem acesso ao banco de dados completo da Azzas 2154 via MCP no Claude— histórico de vendas, estoque e cadastro de produtos. Não há restrição sobre quais tabelas usar — exceto pela data-base.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78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o Claude + MCP para acessar os dados: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99232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15568" y="3090672"/>
            <a:ext cx="457200" cy="457200"/>
          </a:xfrm>
          <a:prstGeom prst="ellipse">
            <a:avLst/>
          </a:prstGeom>
          <a:solidFill>
            <a:srgbClr val="2DD4BF">
              <a:alpha val="2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Claude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" y="39776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— verifique que o MCP Azzas está ativo no menu de ferramentas.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2999232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3090672"/>
            <a:ext cx="457200" cy="457200"/>
          </a:xfrm>
          <a:prstGeom prst="ellipse">
            <a:avLst/>
          </a:prstGeom>
          <a:solidFill>
            <a:srgbClr val="2DD4BF">
              <a:alpha val="2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24328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em português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24328" y="39776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perguntas sobre vendas, estoque ou produtos da Fábula. O Claude traduz para SQL e retorna os dados.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99232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13248" y="3090672"/>
            <a:ext cx="457200" cy="457200"/>
          </a:xfrm>
          <a:prstGeom prst="ellipse">
            <a:avLst/>
          </a:prstGeom>
          <a:solidFill>
            <a:srgbClr val="2DD4BF">
              <a:alpha val="2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73168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análises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73168" y="39776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Tabelas, gráficos, comparações entre coleções — o Claude processa e apresenta.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2999232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F222A"/>
          </a:solidFill>
          <a:ln w="7620">
            <a:solidFill>
              <a:srgbClr val="4A4D5A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3090672"/>
            <a:ext cx="457200" cy="457200"/>
          </a:xfrm>
          <a:prstGeom prst="ellipse">
            <a:avLst/>
          </a:prstGeom>
          <a:solidFill>
            <a:srgbClr val="2DD4BF">
              <a:alpha val="2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6208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22008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22008" y="39776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 pergunta, filtre por período, filial ou produto até chegar no dado que precisa.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0"/>
          </a:xfrm>
          <a:prstGeom prst="line">
            <a:avLst/>
          </a:prstGeom>
          <a:noFill/>
          <a:ln w="6350">
            <a:solidFill>
              <a:srgbClr val="4A4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721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28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única de produto + cor + tamanho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721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Produto-cor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728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+ cor, sem granularidade de tamanho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12264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671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inicial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do CD para filiais no lançamento da coleção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112264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671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Regulador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no CD após distribuição — alimenta o ressuprimento automático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07208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62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Ressuprimento automático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118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que repõe lojas por histórico, após 14 dias de aquecimento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807208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62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Leadtime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118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trânsito do CD até a filial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502152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570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de cobertura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813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+ leadtime — dias que a distribuição inicial deve cobrir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502152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5570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Sortimento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813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produto-cor podem ser enviados para cada filial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197096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5079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tamanhos ativos de um produto-cor (TAM_1 a TAM_N &gt; 0)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4197096"/>
            <a:ext cx="4160520" cy="603504"/>
          </a:xfrm>
          <a:prstGeom prst="roundRect">
            <a:avLst>
              <a:gd name="adj" fmla="val 7576"/>
            </a:avLst>
          </a:prstGeom>
          <a:solidFill>
            <a:srgbClr val="1A1D24"/>
          </a:solidFill>
          <a:ln w="7620">
            <a:solidFill>
              <a:srgbClr val="4A4D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5079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estoque em loja para produto com demanda — venda perdida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-457200"/>
            <a:ext cx="6400800" cy="6400800"/>
          </a:xfrm>
          <a:prstGeom prst="ellipse">
            <a:avLst/>
          </a:prstGeom>
          <a:solidFill>
            <a:srgbClr val="C8A96E">
              <a:alpha val="7000"/>
            </a:srgbClr>
          </a:solidFill>
          <a:ln w="12700">
            <a:solidFill>
              <a:srgbClr val="C8A96E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914400"/>
            <a:ext cx="3200400" cy="320040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8138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Distribua bem.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Ressuprimento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do resto.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926080" y="3337560"/>
            <a:ext cx="3291840" cy="347472"/>
          </a:xfrm>
          <a:prstGeom prst="roundRect">
            <a:avLst>
              <a:gd name="adj" fmla="val 13158"/>
            </a:avLst>
          </a:prstGeom>
          <a:solidFill>
            <a:srgbClr val="3A3020"/>
          </a:solidFill>
          <a:ln w="7620">
            <a:solidFill>
              <a:srgbClr val="C8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3337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· IA FASHION LAB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Tribo Plan &amp; DS · Fábula INV26 · Azzas 2154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1236</Words>
  <Application>Microsoft Office PowerPoint</Application>
  <PresentationFormat>Apresentação na tela (16:9)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· Fábula INV26 · Distribuição Inicial</dc:title>
  <dc:subject>PptxGenJS Presentation</dc:subject>
  <dc:creator>PptxGenJS</dc:creator>
  <cp:lastModifiedBy>Jessica Scheuer</cp:lastModifiedBy>
  <cp:revision>2</cp:revision>
  <dcterms:created xsi:type="dcterms:W3CDTF">2026-06-26T00:26:54Z</dcterms:created>
  <dcterms:modified xsi:type="dcterms:W3CDTF">2026-06-26T00:44:11Z</dcterms:modified>
</cp:coreProperties>
</file>